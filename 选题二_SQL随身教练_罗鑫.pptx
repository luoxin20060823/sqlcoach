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9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60" d="100"/>
          <a:sy n="160" d="100"/>
        </p:scale>
        <p:origin x="322" y="1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266632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371600"/>
            <a:ext cx="4572000" cy="4572000"/>
          </a:xfrm>
          <a:prstGeom prst="ellipse">
            <a:avLst/>
          </a:prstGeom>
          <a:solidFill>
            <a:srgbClr val="38BDF8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2743200"/>
            <a:ext cx="3657600" cy="3657600"/>
          </a:xfrm>
          <a:prstGeom prst="ellipse">
            <a:avLst/>
          </a:prstGeom>
          <a:solidFill>
            <a:srgbClr val="818CF8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0" y="3840480"/>
            <a:ext cx="2286000" cy="2286000"/>
          </a:xfrm>
          <a:prstGeom prst="ellipse">
            <a:avLst/>
          </a:prstGeom>
          <a:solidFill>
            <a:srgbClr val="34D399">
              <a:alpha val="8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28016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1F5F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SQL 随身教练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731520" y="24231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基于大模型 Agent 的 SQL 辅助学习系统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0" y="4526280"/>
            <a:ext cx="9144000" cy="6172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461772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Python + Streamlit + SQLite + DeepSeek API   |   GitHub: luoxin20060823/sqlcoach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01168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项目背景与目标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为什么要做这个系统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024128"/>
            <a:ext cx="914400" cy="0"/>
          </a:xfrm>
          <a:prstGeom prst="line">
            <a:avLst/>
          </a:prstGeom>
          <a:noFill/>
          <a:ln w="38100">
            <a:solidFill>
              <a:srgbClr val="38BD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371600"/>
            <a:ext cx="3931920" cy="1737360"/>
          </a:xfrm>
          <a:prstGeom prst="rect">
            <a:avLst/>
          </a:prstGeom>
          <a:solidFill>
            <a:srgbClr val="FEF2F2"/>
          </a:solidFill>
          <a:ln/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77240" y="13716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C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学习痛点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77240" y="1783080"/>
            <a:ext cx="3657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 err="1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教科书例子单一，数据库切换成本高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在线判题平台需准备好 SQL </a:t>
            </a:r>
            <a:r>
              <a:rPr lang="en-US" sz="1200" dirty="0" err="1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题库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 err="1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做错的题缺乏针对性深入解析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缺少限时考试场景训练实战能力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663440" y="1371600"/>
            <a:ext cx="3931920" cy="1737360"/>
          </a:xfrm>
          <a:prstGeom prst="rect">
            <a:avLst/>
          </a:prstGeom>
          <a:solidFill>
            <a:srgbClr val="F0FDF4"/>
          </a:solidFill>
          <a:ln/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892040" y="13716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596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我们的方案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892040" y="1783080"/>
            <a:ext cx="3657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LLM Agent 实时生成 </a:t>
            </a:r>
            <a:r>
              <a:rPr lang="en-US" sz="1200" dirty="0" err="1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schema、题目、解析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三层判题 + </a:t>
            </a:r>
            <a:r>
              <a:rPr lang="en-US" sz="1200" dirty="0" err="1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结构化错题解析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 / 考试 / </a:t>
            </a:r>
            <a:r>
              <a:rPr lang="en-US" sz="1200" dirty="0" err="1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复习</a:t>
            </a: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r>
              <a:rPr lang="en-US" sz="1200" dirty="0" err="1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多场景覆盖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学习数据可视化 + 智能建议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8640" y="32461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设计目标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548640" y="3657600"/>
            <a:ext cx="1874520" cy="12801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85800" y="374904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563E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85800" y="406908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完整闭环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85800" y="438912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建库→出题→答题→判题→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解析→分析→推荐难度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560320" y="3657600"/>
            <a:ext cx="1874520" cy="12801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2697480" y="374904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C3AE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2697480" y="406908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驱动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2697480" y="438912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Schema、题目、解析、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学习分析全部 LLM 生成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572000" y="3657600"/>
            <a:ext cx="1874520" cy="12801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709160" y="374904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5966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709160" y="406908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高性能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709160" y="438912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并发、缓存、预取，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90% 操作秒级响应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583680" y="3657600"/>
            <a:ext cx="1874520" cy="12801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720840" y="374904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9770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720840" y="406908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易上手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720840" y="438912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Web 直接打开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无需安装、无需注册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8229600" y="48463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/ 14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01168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系统架构与技术栈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层架构 · 单一外部依赖（LLM API）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024128"/>
            <a:ext cx="914400" cy="0"/>
          </a:xfrm>
          <a:prstGeom prst="line">
            <a:avLst/>
          </a:prstGeom>
          <a:noFill/>
          <a:ln w="38100">
            <a:solidFill>
              <a:srgbClr val="38BD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1280160"/>
            <a:ext cx="7498080" cy="5486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22960" y="1280160"/>
            <a:ext cx="73152" cy="548640"/>
          </a:xfrm>
          <a:prstGeom prst="rect">
            <a:avLst/>
          </a:prstGeom>
          <a:solidFill>
            <a:srgbClr val="818CF8"/>
          </a:solidFill>
          <a:ln/>
        </p:spPr>
      </p:sp>
      <p:sp>
        <p:nvSpPr>
          <p:cNvPr id="8" name="Text 6"/>
          <p:cNvSpPr/>
          <p:nvPr/>
        </p:nvSpPr>
        <p:spPr>
          <a:xfrm>
            <a:off x="1097280" y="131673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18C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前端展示层 — Streamlit Web UI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97280" y="1554480"/>
            <a:ext cx="7040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 大功能 Tab · 自定义 CSS 主题 · streamlit-ace SQL 编辑器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822960" y="1965960"/>
            <a:ext cx="7498080" cy="5486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822960" y="1965960"/>
            <a:ext cx="73152" cy="54864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2" name="Text 10"/>
          <p:cNvSpPr/>
          <p:nvPr/>
        </p:nvSpPr>
        <p:spPr>
          <a:xfrm>
            <a:off x="1097280" y="200253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 引擎层 — Python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97280" y="2240280"/>
            <a:ext cx="7040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SchemaGen · QuestionGen · JudgeEngine · Tutor · Analyzer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22960" y="2651760"/>
            <a:ext cx="7498080" cy="5486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22960" y="2651760"/>
            <a:ext cx="73152" cy="54864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6" name="Text 14"/>
          <p:cNvSpPr/>
          <p:nvPr/>
        </p:nvSpPr>
        <p:spPr>
          <a:xfrm>
            <a:off x="1097280" y="268833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596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调度层 — LLMClient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097280" y="2926080"/>
            <a:ext cx="7040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OpenAI 兼容协议 · 并发批量 · JSON Mode · 失败回退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822960" y="3337560"/>
            <a:ext cx="7498080" cy="5486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22960" y="3337560"/>
            <a:ext cx="73152" cy="54864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0" name="Text 18"/>
          <p:cNvSpPr/>
          <p:nvPr/>
        </p:nvSpPr>
        <p:spPr>
          <a:xfrm>
            <a:off x="1097280" y="337413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9770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数据层 — SQLite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097280" y="3611880"/>
            <a:ext cx="7040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题库 / 答题历史 / Schema 缓存 / 考试记录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822960" y="4023360"/>
            <a:ext cx="7498080" cy="5486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822960" y="4023360"/>
            <a:ext cx="73152" cy="548640"/>
          </a:xfrm>
          <a:prstGeom prst="rect">
            <a:avLst/>
          </a:prstGeom>
          <a:solidFill>
            <a:srgbClr val="DB2777"/>
          </a:solidFill>
          <a:ln/>
        </p:spPr>
      </p:sp>
      <p:sp>
        <p:nvSpPr>
          <p:cNvPr id="24" name="Text 22"/>
          <p:cNvSpPr/>
          <p:nvPr/>
        </p:nvSpPr>
        <p:spPr>
          <a:xfrm>
            <a:off x="1097280" y="405993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B27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外部模型 — DeepSeek API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097280" y="4297680"/>
            <a:ext cx="7040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deepseek-V4-</a:t>
            </a:r>
            <a:r>
              <a:rPr lang="en-US" altLang="zh-CN" sz="105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Flash </a:t>
            </a:r>
            <a:r>
              <a:rPr lang="en-US" sz="105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 单模型驱动全部 Agent 调用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389120" y="1847088"/>
            <a:ext cx="3657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V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389120" y="2532888"/>
            <a:ext cx="3657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V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389120" y="3218688"/>
            <a:ext cx="3657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V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389120" y="3904488"/>
            <a:ext cx="3657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V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8229600" y="48463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/ 14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01168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六大功能总览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覆盖完整的 SQL 学习闭环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024128"/>
            <a:ext cx="914400" cy="0"/>
          </a:xfrm>
          <a:prstGeom prst="line">
            <a:avLst/>
          </a:prstGeom>
          <a:noFill/>
          <a:ln w="38100">
            <a:solidFill>
              <a:srgbClr val="38BD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25780" y="1138237"/>
            <a:ext cx="2606040" cy="16916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25780" y="1138237"/>
            <a:ext cx="260604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8" name="Shape 6"/>
          <p:cNvSpPr/>
          <p:nvPr/>
        </p:nvSpPr>
        <p:spPr>
          <a:xfrm>
            <a:off x="708660" y="1366837"/>
            <a:ext cx="365760" cy="365760"/>
          </a:xfrm>
          <a:prstGeom prst="ellipse">
            <a:avLst/>
          </a:prstGeom>
          <a:solidFill>
            <a:srgbClr val="EFF6FF"/>
          </a:solidFill>
          <a:ln/>
        </p:spPr>
      </p:sp>
      <p:sp>
        <p:nvSpPr>
          <p:cNvPr id="9" name="Text 7"/>
          <p:cNvSpPr/>
          <p:nvPr/>
        </p:nvSpPr>
        <p:spPr>
          <a:xfrm>
            <a:off x="708660" y="1366837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563E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65860" y="1412557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54380" y="1915477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出题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判题与解析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68980" y="1138237"/>
            <a:ext cx="2606040" cy="16916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68980" y="1138237"/>
            <a:ext cx="2606040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4" name="Shape 12"/>
          <p:cNvSpPr/>
          <p:nvPr/>
        </p:nvSpPr>
        <p:spPr>
          <a:xfrm>
            <a:off x="3451860" y="1366837"/>
            <a:ext cx="365760" cy="365760"/>
          </a:xfrm>
          <a:prstGeom prst="ellipse">
            <a:avLst/>
          </a:prstGeom>
          <a:solidFill>
            <a:srgbClr val="F5F3FF"/>
          </a:solidFill>
          <a:ln/>
        </p:spPr>
      </p:sp>
      <p:sp>
        <p:nvSpPr>
          <p:cNvPr id="15" name="Text 13"/>
          <p:cNvSpPr/>
          <p:nvPr/>
        </p:nvSpPr>
        <p:spPr>
          <a:xfrm>
            <a:off x="3451860" y="1366837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7C3AE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909060" y="1412557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考试模式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3497580" y="1915477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限时多题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按难度计分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012180" y="1138237"/>
            <a:ext cx="2606040" cy="16916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012180" y="1138237"/>
            <a:ext cx="260604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0" name="Shape 18"/>
          <p:cNvSpPr/>
          <p:nvPr/>
        </p:nvSpPr>
        <p:spPr>
          <a:xfrm>
            <a:off x="6195060" y="1366837"/>
            <a:ext cx="365760" cy="365760"/>
          </a:xfrm>
          <a:prstGeom prst="ellipse">
            <a:avLst/>
          </a:prstGeom>
          <a:solidFill>
            <a:srgbClr val="ECFEFF"/>
          </a:solidFill>
          <a:ln/>
        </p:spPr>
      </p:sp>
      <p:sp>
        <p:nvSpPr>
          <p:cNvPr id="21" name="Text 19"/>
          <p:cNvSpPr/>
          <p:nvPr/>
        </p:nvSpPr>
        <p:spPr>
          <a:xfrm>
            <a:off x="6195060" y="1366837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891B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652260" y="1412557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891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分析报告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240780" y="1915477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雷达图 / 趋势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建议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25780" y="3058477"/>
            <a:ext cx="2606040" cy="16916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25780" y="3012757"/>
            <a:ext cx="2606040" cy="54864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6" name="Shape 24"/>
          <p:cNvSpPr/>
          <p:nvPr/>
        </p:nvSpPr>
        <p:spPr>
          <a:xfrm>
            <a:off x="708660" y="3241357"/>
            <a:ext cx="365760" cy="365760"/>
          </a:xfrm>
          <a:prstGeom prst="ellipse">
            <a:avLst/>
          </a:prstGeom>
          <a:solidFill>
            <a:srgbClr val="F0FDF4"/>
          </a:solidFill>
          <a:ln/>
        </p:spPr>
      </p:sp>
      <p:sp>
        <p:nvSpPr>
          <p:cNvPr id="27" name="Text 25"/>
          <p:cNvSpPr/>
          <p:nvPr/>
        </p:nvSpPr>
        <p:spPr>
          <a:xfrm>
            <a:off x="708660" y="3241357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5966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165860" y="3287077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596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数据浏览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754380" y="3789997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Schema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表数据预览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268980" y="3012757"/>
            <a:ext cx="2606040" cy="16916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3268980" y="3012757"/>
            <a:ext cx="2606040" cy="54864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2" name="Shape 30"/>
          <p:cNvSpPr/>
          <p:nvPr/>
        </p:nvSpPr>
        <p:spPr>
          <a:xfrm>
            <a:off x="3451860" y="3241357"/>
            <a:ext cx="365760" cy="365760"/>
          </a:xfrm>
          <a:prstGeom prst="ellipse">
            <a:avLst/>
          </a:prstGeom>
          <a:solidFill>
            <a:srgbClr val="FFFBEB"/>
          </a:solidFill>
          <a:ln/>
        </p:spPr>
      </p:sp>
      <p:sp>
        <p:nvSpPr>
          <p:cNvPr id="33" name="Text 31"/>
          <p:cNvSpPr/>
          <p:nvPr/>
        </p:nvSpPr>
        <p:spPr>
          <a:xfrm>
            <a:off x="3451860" y="3241357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9770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3909060" y="3287077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9770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错题复习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3497580" y="3789997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错题集中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反复练习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012180" y="3076574"/>
            <a:ext cx="2606040" cy="16916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012180" y="3012757"/>
            <a:ext cx="2606040" cy="54864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8" name="Shape 36"/>
          <p:cNvSpPr/>
          <p:nvPr/>
        </p:nvSpPr>
        <p:spPr>
          <a:xfrm>
            <a:off x="6195060" y="3241357"/>
            <a:ext cx="365760" cy="365760"/>
          </a:xfrm>
          <a:prstGeom prst="ellipse">
            <a:avLst/>
          </a:prstGeom>
          <a:solidFill>
            <a:srgbClr val="FEF2F2"/>
          </a:solidFill>
          <a:ln/>
        </p:spPr>
      </p:sp>
      <p:sp>
        <p:nvSpPr>
          <p:cNvPr id="39" name="Text 37"/>
          <p:cNvSpPr/>
          <p:nvPr/>
        </p:nvSpPr>
        <p:spPr>
          <a:xfrm>
            <a:off x="6195060" y="3241357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C262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6652260" y="3287077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C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自由答疑</a:t>
            </a:r>
            <a:endParaRPr lang="en-US" sz="1800" dirty="0"/>
          </a:p>
        </p:txBody>
      </p:sp>
      <p:sp>
        <p:nvSpPr>
          <p:cNvPr id="41" name="Text 39"/>
          <p:cNvSpPr/>
          <p:nvPr/>
        </p:nvSpPr>
        <p:spPr>
          <a:xfrm>
            <a:off x="6240780" y="3789997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多轮对话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助教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548640" y="4572000"/>
            <a:ext cx="8046720" cy="411480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43" name="Text 41"/>
          <p:cNvSpPr/>
          <p:nvPr/>
        </p:nvSpPr>
        <p:spPr>
          <a:xfrm>
            <a:off x="548640" y="457200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D4E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学习闭环：建库 → 出题 → 答题 → 判题 → 解析 → 分析 → 推荐难度 → 出题</a:t>
            </a:r>
            <a:endParaRPr lang="en-US" sz="1250" dirty="0"/>
          </a:p>
        </p:txBody>
      </p:sp>
      <p:sp>
        <p:nvSpPr>
          <p:cNvPr id="44" name="Text 42"/>
          <p:cNvSpPr/>
          <p:nvPr/>
        </p:nvSpPr>
        <p:spPr>
          <a:xfrm>
            <a:off x="8229600" y="48463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/ 14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01168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亮点 1 · 多元化建库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三种数据库加载方式，零成本到完全定制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024128"/>
            <a:ext cx="914400" cy="0"/>
          </a:xfrm>
          <a:prstGeom prst="line">
            <a:avLst/>
          </a:prstGeom>
          <a:noFill/>
          <a:ln w="38100">
            <a:solidFill>
              <a:srgbClr val="38BD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280160"/>
            <a:ext cx="2697480" cy="32918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280160"/>
            <a:ext cx="269748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8" name="Shape 6"/>
          <p:cNvSpPr/>
          <p:nvPr/>
        </p:nvSpPr>
        <p:spPr>
          <a:xfrm>
            <a:off x="1371600" y="1463040"/>
            <a:ext cx="685800" cy="685800"/>
          </a:xfrm>
          <a:prstGeom prst="ellipse">
            <a:avLst/>
          </a:prstGeom>
          <a:solidFill>
            <a:srgbClr val="EFF6FF"/>
          </a:solidFill>
          <a:ln/>
        </p:spPr>
      </p:sp>
      <p:sp>
        <p:nvSpPr>
          <p:cNvPr id="9" name="Text 7"/>
          <p:cNvSpPr/>
          <p:nvPr/>
        </p:nvSpPr>
        <p:spPr>
          <a:xfrm>
            <a:off x="1371600" y="14630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563E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502920" y="228600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 个内置预置库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02920" y="2670048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瞬时加载 · 0 等待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94360" y="3017520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学生管理 · 电商订单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94360" y="3337560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图书管理 · 企业人事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94360" y="3657600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医院挂号 · 银行交易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94360" y="3977640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餐厅外卖 · 博客社交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291840" y="1280160"/>
            <a:ext cx="2697480" cy="32918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91840" y="1280160"/>
            <a:ext cx="2697480" cy="54864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8" name="Shape 16"/>
          <p:cNvSpPr/>
          <p:nvPr/>
        </p:nvSpPr>
        <p:spPr>
          <a:xfrm>
            <a:off x="4297680" y="1463040"/>
            <a:ext cx="685800" cy="685800"/>
          </a:xfrm>
          <a:prstGeom prst="ellipse">
            <a:avLst/>
          </a:prstGeom>
          <a:solidFill>
            <a:srgbClr val="F0FDF4"/>
          </a:solidFill>
          <a:ln/>
        </p:spPr>
      </p:sp>
      <p:sp>
        <p:nvSpPr>
          <p:cNvPr id="19" name="Text 17"/>
          <p:cNvSpPr/>
          <p:nvPr/>
        </p:nvSpPr>
        <p:spPr>
          <a:xfrm>
            <a:off x="4297680" y="14630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5966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3429000" y="228600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自定义 SQL 上传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3429000" y="2670048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596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完全自主 · 0 LLM 调用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520440" y="3017520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粘贴 CREATE TABLE +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3520440" y="3337560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INSERT INTO 即可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3520440" y="3657600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用真实业务数据训练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3520440" y="3977640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校验后自动加载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217920" y="1280160"/>
            <a:ext cx="2697480" cy="32918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217920" y="1280160"/>
            <a:ext cx="2697480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8" name="Shape 26"/>
          <p:cNvSpPr/>
          <p:nvPr/>
        </p:nvSpPr>
        <p:spPr>
          <a:xfrm>
            <a:off x="7223760" y="1463040"/>
            <a:ext cx="685800" cy="685800"/>
          </a:xfrm>
          <a:prstGeom prst="ellipse">
            <a:avLst/>
          </a:prstGeom>
          <a:solidFill>
            <a:srgbClr val="F5F3FF"/>
          </a:solidFill>
          <a:ln/>
        </p:spPr>
      </p:sp>
      <p:sp>
        <p:nvSpPr>
          <p:cNvPr id="29" name="Text 27"/>
          <p:cNvSpPr/>
          <p:nvPr/>
        </p:nvSpPr>
        <p:spPr>
          <a:xfrm>
            <a:off x="7223760" y="14630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7C3AE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400" dirty="0"/>
          </a:p>
        </p:txBody>
      </p:sp>
      <p:sp>
        <p:nvSpPr>
          <p:cNvPr id="30" name="Text 28"/>
          <p:cNvSpPr/>
          <p:nvPr/>
        </p:nvSpPr>
        <p:spPr>
          <a:xfrm>
            <a:off x="6355080" y="228600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一句话 LLM 生成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355080" y="2670048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自然语言 · 即说即生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446520" y="3017520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「健身房系统，需要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6446520" y="3337560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会员、教练、课程...」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6446520" y="3657600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AI 自动设计表结构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6446520" y="3977640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写入示例数据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548640" y="470916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缓存机制：自定义 / LLM 生成的 schema 都会进入 SQLite 缓存，下次秒加载，永不重复调用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8229600" y="48463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/ 14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01168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亮点 2 · 多样化题目生成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 种类型 × 3 个难度 · 题库复用 · 并发生成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024128"/>
            <a:ext cx="914400" cy="0"/>
          </a:xfrm>
          <a:prstGeom prst="line">
            <a:avLst/>
          </a:prstGeom>
          <a:noFill/>
          <a:ln w="38100">
            <a:solidFill>
              <a:srgbClr val="38BD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280160"/>
            <a:ext cx="5029200" cy="34747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31520" y="137160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题目类型（部分）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31520" y="1783080"/>
            <a:ext cx="1463040" cy="73152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9" name="Shape 7"/>
          <p:cNvSpPr/>
          <p:nvPr/>
        </p:nvSpPr>
        <p:spPr>
          <a:xfrm>
            <a:off x="731520" y="1783080"/>
            <a:ext cx="54864" cy="7315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0" name="Text 8"/>
          <p:cNvSpPr/>
          <p:nvPr/>
        </p:nvSpPr>
        <p:spPr>
          <a:xfrm>
            <a:off x="841248" y="1828800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基础查询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841248" y="2148840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286000" y="1783080"/>
            <a:ext cx="1463040" cy="73152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3" name="Shape 11"/>
          <p:cNvSpPr/>
          <p:nvPr/>
        </p:nvSpPr>
        <p:spPr>
          <a:xfrm>
            <a:off x="2286000" y="1783080"/>
            <a:ext cx="54864" cy="7315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4" name="Text 12"/>
          <p:cNvSpPr/>
          <p:nvPr/>
        </p:nvSpPr>
        <p:spPr>
          <a:xfrm>
            <a:off x="2395728" y="1828800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排序分页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2395728" y="2148840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 BY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840480" y="1783080"/>
            <a:ext cx="1463040" cy="73152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7" name="Shape 15"/>
          <p:cNvSpPr/>
          <p:nvPr/>
        </p:nvSpPr>
        <p:spPr>
          <a:xfrm>
            <a:off x="3840480" y="1783080"/>
            <a:ext cx="54864" cy="73152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8" name="Text 16"/>
          <p:cNvSpPr/>
          <p:nvPr/>
        </p:nvSpPr>
        <p:spPr>
          <a:xfrm>
            <a:off x="3950208" y="1828800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聚合统计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3950208" y="2148840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 BY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731520" y="2651760"/>
            <a:ext cx="1463040" cy="73152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21" name="Shape 19"/>
          <p:cNvSpPr/>
          <p:nvPr/>
        </p:nvSpPr>
        <p:spPr>
          <a:xfrm>
            <a:off x="731520" y="2651760"/>
            <a:ext cx="54864" cy="73152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2" name="Text 20"/>
          <p:cNvSpPr/>
          <p:nvPr/>
        </p:nvSpPr>
        <p:spPr>
          <a:xfrm>
            <a:off x="841248" y="2697480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内连接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841248" y="3017520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INNER JOIN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2286000" y="2651760"/>
            <a:ext cx="1463040" cy="73152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25" name="Shape 23"/>
          <p:cNvSpPr/>
          <p:nvPr/>
        </p:nvSpPr>
        <p:spPr>
          <a:xfrm>
            <a:off x="2286000" y="2651760"/>
            <a:ext cx="54864" cy="73152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6" name="Text 24"/>
          <p:cNvSpPr/>
          <p:nvPr/>
        </p:nvSpPr>
        <p:spPr>
          <a:xfrm>
            <a:off x="2395728" y="2697480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外连接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2395728" y="3017520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LEFT JOIN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840480" y="2651760"/>
            <a:ext cx="1463040" cy="73152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29" name="Shape 27"/>
          <p:cNvSpPr/>
          <p:nvPr/>
        </p:nvSpPr>
        <p:spPr>
          <a:xfrm>
            <a:off x="3840480" y="2651760"/>
            <a:ext cx="54864" cy="73152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0" name="Text 28"/>
          <p:cNvSpPr/>
          <p:nvPr/>
        </p:nvSpPr>
        <p:spPr>
          <a:xfrm>
            <a:off x="3950208" y="2697480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标量子查询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3950208" y="3017520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Subquery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731520" y="3520440"/>
            <a:ext cx="1463040" cy="73152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3" name="Shape 31"/>
          <p:cNvSpPr/>
          <p:nvPr/>
        </p:nvSpPr>
        <p:spPr>
          <a:xfrm>
            <a:off x="731520" y="3520440"/>
            <a:ext cx="54864" cy="73152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4" name="Text 32"/>
          <p:cNvSpPr/>
          <p:nvPr/>
        </p:nvSpPr>
        <p:spPr>
          <a:xfrm>
            <a:off x="841248" y="3566160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EXISTS 子查询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841248" y="3886200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EXISTS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2286000" y="3520440"/>
            <a:ext cx="1463040" cy="73152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7" name="Shape 35"/>
          <p:cNvSpPr/>
          <p:nvPr/>
        </p:nvSpPr>
        <p:spPr>
          <a:xfrm>
            <a:off x="2286000" y="3520440"/>
            <a:ext cx="54864" cy="7315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8" name="Text 36"/>
          <p:cNvSpPr/>
          <p:nvPr/>
        </p:nvSpPr>
        <p:spPr>
          <a:xfrm>
            <a:off x="2395728" y="3566160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窗口函数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2395728" y="3886200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RANK()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3840480" y="3520440"/>
            <a:ext cx="1463040" cy="73152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41" name="Shape 39"/>
          <p:cNvSpPr/>
          <p:nvPr/>
        </p:nvSpPr>
        <p:spPr>
          <a:xfrm>
            <a:off x="3840480" y="3520440"/>
            <a:ext cx="54864" cy="7315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2" name="Text 40"/>
          <p:cNvSpPr/>
          <p:nvPr/>
        </p:nvSpPr>
        <p:spPr>
          <a:xfrm>
            <a:off x="3950208" y="3566160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CTE 表达式</a:t>
            </a:r>
            <a:endParaRPr lang="en-US" sz="1150" dirty="0"/>
          </a:p>
        </p:txBody>
      </p:sp>
      <p:sp>
        <p:nvSpPr>
          <p:cNvPr id="43" name="Text 41"/>
          <p:cNvSpPr/>
          <p:nvPr/>
        </p:nvSpPr>
        <p:spPr>
          <a:xfrm>
            <a:off x="3950208" y="3886200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WITH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731520" y="4434840"/>
            <a:ext cx="4663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...等 15 种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5852160" y="12801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生成特性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5852160" y="1828800"/>
            <a:ext cx="274320" cy="274320"/>
          </a:xfrm>
          <a:prstGeom prst="ellipse">
            <a:avLst/>
          </a:prstGeom>
          <a:solidFill>
            <a:srgbClr val="818CF8"/>
          </a:solidFill>
          <a:ln/>
        </p:spPr>
      </p:sp>
      <p:sp>
        <p:nvSpPr>
          <p:cNvPr id="47" name="Text 45"/>
          <p:cNvSpPr/>
          <p:nvPr/>
        </p:nvSpPr>
        <p:spPr>
          <a:xfrm>
            <a:off x="5852160" y="18288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6263640" y="17830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题库复用</a:t>
            </a:r>
            <a:endParaRPr lang="en-US" sz="1250" dirty="0"/>
          </a:p>
        </p:txBody>
      </p:sp>
      <p:sp>
        <p:nvSpPr>
          <p:cNvPr id="49" name="Text 47"/>
          <p:cNvSpPr/>
          <p:nvPr/>
        </p:nvSpPr>
        <p:spPr>
          <a:xfrm>
            <a:off x="6263640" y="2075688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 schema/难度/类型已生成过的题目，优先抽取，节省 LLM 调用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5852160" y="2587752"/>
            <a:ext cx="274320" cy="274320"/>
          </a:xfrm>
          <a:prstGeom prst="ellipse">
            <a:avLst/>
          </a:prstGeom>
          <a:solidFill>
            <a:srgbClr val="818CF8"/>
          </a:solidFill>
          <a:ln/>
        </p:spPr>
      </p:sp>
      <p:sp>
        <p:nvSpPr>
          <p:cNvPr id="51" name="Text 49"/>
          <p:cNvSpPr/>
          <p:nvPr/>
        </p:nvSpPr>
        <p:spPr>
          <a:xfrm>
            <a:off x="5852160" y="25877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6263640" y="254203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并发生成</a:t>
            </a:r>
            <a:endParaRPr lang="en-US" sz="1250" dirty="0"/>
          </a:p>
        </p:txBody>
      </p:sp>
      <p:sp>
        <p:nvSpPr>
          <p:cNvPr id="53" name="Text 51"/>
          <p:cNvSpPr/>
          <p:nvPr/>
        </p:nvSpPr>
        <p:spPr>
          <a:xfrm>
            <a:off x="6263640" y="283464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ThreadPoolExecutor 4 </a:t>
            </a:r>
            <a:r>
              <a:rPr lang="en-US" sz="1000" dirty="0" err="1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路并发</a:t>
            </a: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</a:t>
            </a:r>
            <a:r>
              <a:rPr lang="zh-CN" alt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加快生成速度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5852160" y="3346704"/>
            <a:ext cx="274320" cy="274320"/>
          </a:xfrm>
          <a:prstGeom prst="ellipse">
            <a:avLst/>
          </a:prstGeom>
          <a:solidFill>
            <a:srgbClr val="818CF8"/>
          </a:solidFill>
          <a:ln/>
        </p:spPr>
      </p:sp>
      <p:sp>
        <p:nvSpPr>
          <p:cNvPr id="55" name="Text 53"/>
          <p:cNvSpPr/>
          <p:nvPr/>
        </p:nvSpPr>
        <p:spPr>
          <a:xfrm>
            <a:off x="5852160" y="334670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56" name="Text 54"/>
          <p:cNvSpPr/>
          <p:nvPr/>
        </p:nvSpPr>
        <p:spPr>
          <a:xfrm>
            <a:off x="6263640" y="3300984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JSON Mode</a:t>
            </a:r>
            <a:endParaRPr lang="en-US" sz="1250" dirty="0"/>
          </a:p>
        </p:txBody>
      </p:sp>
      <p:sp>
        <p:nvSpPr>
          <p:cNvPr id="57" name="Text 55"/>
          <p:cNvSpPr/>
          <p:nvPr/>
        </p:nvSpPr>
        <p:spPr>
          <a:xfrm>
            <a:off x="6263640" y="3593592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强制 LLM 返回结构化 JSON，避免格式解析失败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5852160" y="4105656"/>
            <a:ext cx="274320" cy="274320"/>
          </a:xfrm>
          <a:prstGeom prst="ellipse">
            <a:avLst/>
          </a:prstGeom>
          <a:solidFill>
            <a:srgbClr val="818CF8"/>
          </a:solidFill>
          <a:ln/>
        </p:spPr>
      </p:sp>
      <p:sp>
        <p:nvSpPr>
          <p:cNvPr id="59" name="Text 57"/>
          <p:cNvSpPr/>
          <p:nvPr/>
        </p:nvSpPr>
        <p:spPr>
          <a:xfrm>
            <a:off x="5852160" y="41056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60" name="Text 58"/>
          <p:cNvSpPr/>
          <p:nvPr/>
        </p:nvSpPr>
        <p:spPr>
          <a:xfrm>
            <a:off x="6263640" y="4059936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执行验证</a:t>
            </a:r>
            <a:endParaRPr lang="en-US" sz="1250" dirty="0"/>
          </a:p>
        </p:txBody>
      </p:sp>
      <p:sp>
        <p:nvSpPr>
          <p:cNvPr id="61" name="Text 59"/>
          <p:cNvSpPr/>
          <p:nvPr/>
        </p:nvSpPr>
        <p:spPr>
          <a:xfrm>
            <a:off x="6263640" y="4352544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生成后立刻在内存数据库验证 SQL 可执行，过滤脏题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8229600" y="48463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 / 14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01168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亮点 3 · 三层判题引擎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13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三层对比 </a:t>
            </a:r>
            <a:r>
              <a:rPr lang="en-US" sz="13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LLM 语义复核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024128"/>
            <a:ext cx="914400" cy="0"/>
          </a:xfrm>
          <a:prstGeom prst="line">
            <a:avLst/>
          </a:prstGeom>
          <a:noFill/>
          <a:ln w="38100">
            <a:solidFill>
              <a:srgbClr val="38BD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325880"/>
            <a:ext cx="804672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325880"/>
            <a:ext cx="73152" cy="77724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8" name="Shape 6"/>
          <p:cNvSpPr/>
          <p:nvPr/>
        </p:nvSpPr>
        <p:spPr>
          <a:xfrm>
            <a:off x="868680" y="1490472"/>
            <a:ext cx="457200" cy="45720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14904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1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508760" y="139903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语法检查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508760" y="1691640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SQLite EXPLAIN 解析 SQL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语法错误零成本拦截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7040880" y="15544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2240280"/>
            <a:ext cx="804672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48640" y="2240280"/>
            <a:ext cx="73152" cy="77724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6" name="Shape 14"/>
          <p:cNvSpPr/>
          <p:nvPr/>
        </p:nvSpPr>
        <p:spPr>
          <a:xfrm>
            <a:off x="868680" y="2404872"/>
            <a:ext cx="457200" cy="457200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17" name="Text 15"/>
          <p:cNvSpPr/>
          <p:nvPr/>
        </p:nvSpPr>
        <p:spPr>
          <a:xfrm>
            <a:off x="868680" y="24048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2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508760" y="231343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596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执行结果对比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508760" y="2606040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 :memory: 数据库执行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排序后比较，忽略字段顺序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7040880" y="24688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48640" y="3154680"/>
            <a:ext cx="804672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48640" y="3154680"/>
            <a:ext cx="73152" cy="77724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4" name="Shape 22"/>
          <p:cNvSpPr/>
          <p:nvPr/>
        </p:nvSpPr>
        <p:spPr>
          <a:xfrm>
            <a:off x="868680" y="3319272"/>
            <a:ext cx="457200" cy="457200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25" name="Text 23"/>
          <p:cNvSpPr/>
          <p:nvPr/>
        </p:nvSpPr>
        <p:spPr>
          <a:xfrm>
            <a:off x="868680" y="33192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3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1508760" y="322783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9770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LLM 语义复核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508760" y="3520440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结果一致时审查 SQL 逻辑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识别 WHERE 1=1 等碰巧情况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7040880" y="33832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8229600" y="48463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 / 14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01168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亮点 4 · 考试模式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限时多题 · 难度均分 · 100 分制 · 自动交卷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024128"/>
            <a:ext cx="914400" cy="0"/>
          </a:xfrm>
          <a:prstGeom prst="line">
            <a:avLst/>
          </a:prstGeom>
          <a:noFill/>
          <a:ln w="38100">
            <a:solidFill>
              <a:srgbClr val="38BD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280160"/>
            <a:ext cx="1828800" cy="13258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280160" y="1371600"/>
            <a:ext cx="274320" cy="27432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8" name="Text 6"/>
          <p:cNvSpPr/>
          <p:nvPr/>
        </p:nvSpPr>
        <p:spPr>
          <a:xfrm>
            <a:off x="1280160" y="13716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02920" y="16916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配置考试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94360" y="201168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题数 / 时长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领域选择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331720" y="187452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94A3B8"/>
                </a:solidFill>
              </a:rPr>
              <a:t>&gt;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2651760" y="1280160"/>
            <a:ext cx="1828800" cy="13258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429000" y="1371600"/>
            <a:ext cx="274320" cy="27432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4" name="Text 12"/>
          <p:cNvSpPr/>
          <p:nvPr/>
        </p:nvSpPr>
        <p:spPr>
          <a:xfrm>
            <a:off x="3429000" y="13716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651760" y="16916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并发生成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743200" y="201168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按难度均分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LLM 一次拉取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480560" y="187452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94A3B8"/>
                </a:solidFill>
              </a:rPr>
              <a:t>&gt;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4800600" y="1280160"/>
            <a:ext cx="1828800" cy="13258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577840" y="1371600"/>
            <a:ext cx="274320" cy="274320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20" name="Text 18"/>
          <p:cNvSpPr/>
          <p:nvPr/>
        </p:nvSpPr>
        <p:spPr>
          <a:xfrm>
            <a:off x="5577840" y="13716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800600" y="16916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9770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限时作答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892040" y="201168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倒计时实时显示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题间自由切换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629400" y="187452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94A3B8"/>
                </a:solidFill>
              </a:rPr>
              <a:t>&gt;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6949440" y="1280160"/>
            <a:ext cx="1828800" cy="13258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726680" y="1371600"/>
            <a:ext cx="274320" cy="274320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26" name="Text 24"/>
          <p:cNvSpPr/>
          <p:nvPr/>
        </p:nvSpPr>
        <p:spPr>
          <a:xfrm>
            <a:off x="7726680" y="13716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949440" y="16916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596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评级复盘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7040880" y="201168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档评级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每题详细解析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48640" y="27889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核心规则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548640" y="3200400"/>
            <a:ext cx="164592" cy="164592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31" name="Text 29"/>
          <p:cNvSpPr/>
          <p:nvPr/>
        </p:nvSpPr>
        <p:spPr>
          <a:xfrm>
            <a:off x="777240" y="3127248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题数 3~30、时长 1~120 分钟，由用户自定义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48640" y="3493008"/>
            <a:ext cx="164592" cy="164592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33" name="Text 31"/>
          <p:cNvSpPr/>
          <p:nvPr/>
        </p:nvSpPr>
        <p:spPr>
          <a:xfrm>
            <a:off x="777240" y="3419856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难度按 easy/medium/hard 平均分配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48640" y="3785616"/>
            <a:ext cx="164592" cy="164592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35" name="Text 33"/>
          <p:cNvSpPr/>
          <p:nvPr/>
        </p:nvSpPr>
        <p:spPr>
          <a:xfrm>
            <a:off x="777240" y="3712464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分数按难度权重 1/2/3 加权，总分恒为 100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548640" y="4078224"/>
            <a:ext cx="164592" cy="164592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37" name="Text 35"/>
          <p:cNvSpPr/>
          <p:nvPr/>
        </p:nvSpPr>
        <p:spPr>
          <a:xfrm>
            <a:off x="777240" y="4005072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倒计时归零自动交卷，30s 内倒计时变红警示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029200" y="27889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评级体系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4956048" y="3246120"/>
            <a:ext cx="731520" cy="12801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956048" y="3246120"/>
            <a:ext cx="731520" cy="54864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41" name="Text 39"/>
          <p:cNvSpPr/>
          <p:nvPr/>
        </p:nvSpPr>
        <p:spPr>
          <a:xfrm>
            <a:off x="4956048" y="3383280"/>
            <a:ext cx="731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5966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A+</a:t>
            </a:r>
            <a:endParaRPr lang="en-US" sz="2800" dirty="0"/>
          </a:p>
        </p:txBody>
      </p:sp>
      <p:sp>
        <p:nvSpPr>
          <p:cNvPr id="42" name="Text 40"/>
          <p:cNvSpPr/>
          <p:nvPr/>
        </p:nvSpPr>
        <p:spPr>
          <a:xfrm>
            <a:off x="4956048" y="406908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≥ 90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5724144" y="3246120"/>
            <a:ext cx="731520" cy="12801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5724144" y="3246120"/>
            <a:ext cx="73152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5" name="Text 43"/>
          <p:cNvSpPr/>
          <p:nvPr/>
        </p:nvSpPr>
        <p:spPr>
          <a:xfrm>
            <a:off x="5724144" y="3383280"/>
            <a:ext cx="731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2563E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</a:t>
            </a:r>
            <a:endParaRPr lang="en-US" sz="2800" dirty="0"/>
          </a:p>
        </p:txBody>
      </p:sp>
      <p:sp>
        <p:nvSpPr>
          <p:cNvPr id="46" name="Text 44"/>
          <p:cNvSpPr/>
          <p:nvPr/>
        </p:nvSpPr>
        <p:spPr>
          <a:xfrm>
            <a:off x="5724144" y="406908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≥ 80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6492240" y="3246120"/>
            <a:ext cx="731520" cy="12801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6492240" y="3246120"/>
            <a:ext cx="73152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9" name="Text 47"/>
          <p:cNvSpPr/>
          <p:nvPr/>
        </p:nvSpPr>
        <p:spPr>
          <a:xfrm>
            <a:off x="6492240" y="3383280"/>
            <a:ext cx="731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891B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</a:t>
            </a:r>
            <a:endParaRPr lang="en-US" sz="2800" dirty="0"/>
          </a:p>
        </p:txBody>
      </p:sp>
      <p:sp>
        <p:nvSpPr>
          <p:cNvPr id="50" name="Text 48"/>
          <p:cNvSpPr/>
          <p:nvPr/>
        </p:nvSpPr>
        <p:spPr>
          <a:xfrm>
            <a:off x="6492240" y="406908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≥ 70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7260336" y="3246120"/>
            <a:ext cx="731520" cy="12801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7260336" y="3246120"/>
            <a:ext cx="731520" cy="54864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53" name="Text 51"/>
          <p:cNvSpPr/>
          <p:nvPr/>
        </p:nvSpPr>
        <p:spPr>
          <a:xfrm>
            <a:off x="7260336" y="3383280"/>
            <a:ext cx="731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D9770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</a:t>
            </a:r>
            <a:endParaRPr lang="en-US" sz="2800" dirty="0"/>
          </a:p>
        </p:txBody>
      </p:sp>
      <p:sp>
        <p:nvSpPr>
          <p:cNvPr id="54" name="Text 52"/>
          <p:cNvSpPr/>
          <p:nvPr/>
        </p:nvSpPr>
        <p:spPr>
          <a:xfrm>
            <a:off x="7260336" y="406908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≥ 60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8028432" y="3246120"/>
            <a:ext cx="731520" cy="12801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6" name="Shape 54"/>
          <p:cNvSpPr/>
          <p:nvPr/>
        </p:nvSpPr>
        <p:spPr>
          <a:xfrm>
            <a:off x="8028432" y="3246120"/>
            <a:ext cx="731520" cy="54864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57" name="Text 55"/>
          <p:cNvSpPr/>
          <p:nvPr/>
        </p:nvSpPr>
        <p:spPr>
          <a:xfrm>
            <a:off x="8028432" y="3383280"/>
            <a:ext cx="731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DC262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</a:t>
            </a:r>
            <a:endParaRPr lang="en-US" sz="2800" dirty="0"/>
          </a:p>
        </p:txBody>
      </p:sp>
      <p:sp>
        <p:nvSpPr>
          <p:cNvPr id="58" name="Text 56"/>
          <p:cNvSpPr/>
          <p:nvPr/>
        </p:nvSpPr>
        <p:spPr>
          <a:xfrm>
            <a:off x="8028432" y="406908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&lt; 60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548640" y="4663440"/>
            <a:ext cx="8046720" cy="365760"/>
          </a:xfrm>
          <a:prstGeom prst="rect">
            <a:avLst/>
          </a:prstGeom>
          <a:solidFill>
            <a:srgbClr val="F5F3FF"/>
          </a:solidFill>
          <a:ln/>
        </p:spPr>
      </p:sp>
      <p:sp>
        <p:nvSpPr>
          <p:cNvPr id="60" name="Text 58"/>
          <p:cNvSpPr/>
          <p:nvPr/>
        </p:nvSpPr>
        <p:spPr>
          <a:xfrm>
            <a:off x="548640" y="46634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考试记录单独存表，不影响日常练习统计 · 题间自由切换 · 单题解析按需生成</a:t>
            </a:r>
            <a:endParaRPr lang="en-US" sz="1100" dirty="0"/>
          </a:p>
        </p:txBody>
      </p:sp>
      <p:sp>
        <p:nvSpPr>
          <p:cNvPr id="61" name="Text 59"/>
          <p:cNvSpPr/>
          <p:nvPr/>
        </p:nvSpPr>
        <p:spPr>
          <a:xfrm>
            <a:off x="8229600" y="48463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 / 14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01168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亮点 5 · 错题复习 + 自由答疑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巩固薄弱点 · 实时答疑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024128"/>
            <a:ext cx="914400" cy="0"/>
          </a:xfrm>
          <a:prstGeom prst="line">
            <a:avLst/>
          </a:prstGeom>
          <a:noFill/>
          <a:ln w="38100">
            <a:solidFill>
              <a:srgbClr val="38BD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280160"/>
            <a:ext cx="3931920" cy="36576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280160"/>
            <a:ext cx="3931920" cy="54864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141732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9770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错题复习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822960" y="2011680"/>
            <a:ext cx="164592" cy="164592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10" name="Text 8"/>
          <p:cNvSpPr/>
          <p:nvPr/>
        </p:nvSpPr>
        <p:spPr>
          <a:xfrm>
            <a:off x="1051560" y="1938528"/>
            <a:ext cx="3337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自动收集 wrong / flawed / 看答案 三类题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22960" y="2423160"/>
            <a:ext cx="164592" cy="164592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12" name="Text 10"/>
          <p:cNvSpPr/>
          <p:nvPr/>
        </p:nvSpPr>
        <p:spPr>
          <a:xfrm>
            <a:off x="1051560" y="2350008"/>
            <a:ext cx="3337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每题保留最近一次尝试结果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22960" y="2834640"/>
            <a:ext cx="164592" cy="164592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14" name="Text 12"/>
          <p:cNvSpPr/>
          <p:nvPr/>
        </p:nvSpPr>
        <p:spPr>
          <a:xfrm>
            <a:off x="1051560" y="2761488"/>
            <a:ext cx="3337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 err="1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点击表格行直接选题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22960" y="3246120"/>
            <a:ext cx="164592" cy="164592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16" name="Text 14"/>
          <p:cNvSpPr/>
          <p:nvPr/>
        </p:nvSpPr>
        <p:spPr>
          <a:xfrm>
            <a:off x="1051560" y="3172968"/>
            <a:ext cx="3337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可在原 schema 上重新作答 + 重新判定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22960" y="3657600"/>
            <a:ext cx="164592" cy="164592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18" name="Text 16"/>
          <p:cNvSpPr/>
          <p:nvPr/>
        </p:nvSpPr>
        <p:spPr>
          <a:xfrm>
            <a:off x="1051560" y="3584448"/>
            <a:ext cx="3337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可切换查看标准答案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22960" y="4069080"/>
            <a:ext cx="164592" cy="164592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20" name="Text 18"/>
          <p:cNvSpPr/>
          <p:nvPr/>
        </p:nvSpPr>
        <p:spPr>
          <a:xfrm>
            <a:off x="1051560" y="3995928"/>
            <a:ext cx="3337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首次答错则统计中永久记错（防刷分）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663440" y="1280160"/>
            <a:ext cx="3931920" cy="36576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663440" y="1280160"/>
            <a:ext cx="3931920" cy="54864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3" name="Text 21"/>
          <p:cNvSpPr/>
          <p:nvPr/>
        </p:nvSpPr>
        <p:spPr>
          <a:xfrm>
            <a:off x="4892040" y="141732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C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自由答疑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4937760" y="2011680"/>
            <a:ext cx="164592" cy="164592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25" name="Text 23"/>
          <p:cNvSpPr/>
          <p:nvPr/>
        </p:nvSpPr>
        <p:spPr>
          <a:xfrm>
            <a:off x="5166360" y="1938528"/>
            <a:ext cx="3337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标准 chat 界面，多轮对话历史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937760" y="2423160"/>
            <a:ext cx="164592" cy="164592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27" name="Text 25"/>
          <p:cNvSpPr/>
          <p:nvPr/>
        </p:nvSpPr>
        <p:spPr>
          <a:xfrm>
            <a:off x="5166360" y="2350008"/>
            <a:ext cx="3337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自动注入当前数据库 schema 上下文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937760" y="2834640"/>
            <a:ext cx="164592" cy="164592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29" name="Text 27"/>
          <p:cNvSpPr/>
          <p:nvPr/>
        </p:nvSpPr>
        <p:spPr>
          <a:xfrm>
            <a:off x="5166360" y="2761488"/>
            <a:ext cx="3337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可问语法、举例、对比写法、性能等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937760" y="3246120"/>
            <a:ext cx="164592" cy="164592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31" name="Text 29"/>
          <p:cNvSpPr/>
          <p:nvPr/>
        </p:nvSpPr>
        <p:spPr>
          <a:xfrm>
            <a:off x="5166360" y="3172968"/>
            <a:ext cx="3337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也支持通用 SQL 概念性问题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937760" y="3657600"/>
            <a:ext cx="164592" cy="164592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33" name="Text 31"/>
          <p:cNvSpPr/>
          <p:nvPr/>
        </p:nvSpPr>
        <p:spPr>
          <a:xfrm>
            <a:off x="5166360" y="3584448"/>
            <a:ext cx="3337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对话保存在 session，刷新前一直可见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937760" y="4069080"/>
            <a:ext cx="164592" cy="164592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35" name="Text 33"/>
          <p:cNvSpPr/>
          <p:nvPr/>
        </p:nvSpPr>
        <p:spPr>
          <a:xfrm>
            <a:off x="5166360" y="3995928"/>
            <a:ext cx="3337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一键清空对话，开启新话题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8229600" y="48463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 / 14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01168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亮点 6 · 结构化详细解析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Tutor Agent 按 4 个固定章节输出 · 250~450 字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024128"/>
            <a:ext cx="914400" cy="0"/>
          </a:xfrm>
          <a:prstGeom prst="line">
            <a:avLst/>
          </a:prstGeom>
          <a:noFill/>
          <a:ln w="38100">
            <a:solidFill>
              <a:srgbClr val="38BD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280160"/>
            <a:ext cx="3840480" cy="12344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31520" y="1554480"/>
            <a:ext cx="640080" cy="64008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5544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508760" y="15087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题目解读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508760" y="187452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 1-2 句话翻译题目真实需求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明确取哪些表、返回什么字段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572000" y="1280160"/>
            <a:ext cx="3840480" cy="12344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54880" y="1554480"/>
            <a:ext cx="640080" cy="64008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3" name="Text 11"/>
          <p:cNvSpPr/>
          <p:nvPr/>
        </p:nvSpPr>
        <p:spPr>
          <a:xfrm>
            <a:off x="4754880" y="15544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5532120" y="15087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解题思路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532120" y="187452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分步说明思考过程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每步在做什么、为什么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2651760"/>
            <a:ext cx="3840480" cy="12344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31520" y="2926080"/>
            <a:ext cx="640080" cy="640080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29260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508760" y="28803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9770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答案点评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508760" y="324612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答对：肯定 + 1-2 处优化建议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答错：明确指出错在哪一步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572000" y="2651760"/>
            <a:ext cx="3840480" cy="12344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754880" y="2926080"/>
            <a:ext cx="640080" cy="640080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23" name="Text 21"/>
          <p:cNvSpPr/>
          <p:nvPr/>
        </p:nvSpPr>
        <p:spPr>
          <a:xfrm>
            <a:off x="4754880" y="29260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5532120" y="28803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596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关键知识点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532120" y="324612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1-3 条相关 SQL 语法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常见易错点提醒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8229600" y="48463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 / 14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01168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亮点 7 · 学习分析报告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可视化进度 · AI 个性化建议 · Markdown 导出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024128"/>
            <a:ext cx="914400" cy="0"/>
          </a:xfrm>
          <a:prstGeom prst="line">
            <a:avLst/>
          </a:prstGeom>
          <a:noFill/>
          <a:ln w="38100">
            <a:solidFill>
              <a:srgbClr val="38BD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280160"/>
            <a:ext cx="3931920" cy="36576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280160"/>
            <a:ext cx="393192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14173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891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数据可视化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77240" y="1874520"/>
            <a:ext cx="3474720" cy="457200"/>
          </a:xfrm>
          <a:prstGeom prst="rect">
            <a:avLst/>
          </a:prstGeom>
          <a:solidFill>
            <a:srgbClr val="ECFEFF"/>
          </a:solidFill>
          <a:ln/>
        </p:spPr>
      </p:sp>
      <p:sp>
        <p:nvSpPr>
          <p:cNvPr id="10" name="Shape 8"/>
          <p:cNvSpPr/>
          <p:nvPr/>
        </p:nvSpPr>
        <p:spPr>
          <a:xfrm>
            <a:off x="777240" y="1874520"/>
            <a:ext cx="54864" cy="4572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1920240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能力雷达图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914400" y="2121408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 个知识维度全景视图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777240" y="2423160"/>
            <a:ext cx="3474720" cy="457200"/>
          </a:xfrm>
          <a:prstGeom prst="rect">
            <a:avLst/>
          </a:prstGeom>
          <a:solidFill>
            <a:srgbClr val="ECFEFF"/>
          </a:solidFill>
          <a:ln/>
        </p:spPr>
      </p:sp>
      <p:sp>
        <p:nvSpPr>
          <p:cNvPr id="14" name="Shape 12"/>
          <p:cNvSpPr/>
          <p:nvPr/>
        </p:nvSpPr>
        <p:spPr>
          <a:xfrm>
            <a:off x="777240" y="2423160"/>
            <a:ext cx="54864" cy="4572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2468880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维度条形图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914400" y="2670048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≥80% 绿、50-80% 橙、&lt;50% 红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777240" y="2971800"/>
            <a:ext cx="3474720" cy="457200"/>
          </a:xfrm>
          <a:prstGeom prst="rect">
            <a:avLst/>
          </a:prstGeom>
          <a:solidFill>
            <a:srgbClr val="ECFEFF"/>
          </a:solidFill>
          <a:ln/>
        </p:spPr>
      </p:sp>
      <p:sp>
        <p:nvSpPr>
          <p:cNvPr id="18" name="Shape 16"/>
          <p:cNvSpPr/>
          <p:nvPr/>
        </p:nvSpPr>
        <p:spPr>
          <a:xfrm>
            <a:off x="777240" y="2971800"/>
            <a:ext cx="54864" cy="4572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9" name="Text 17"/>
          <p:cNvSpPr/>
          <p:nvPr/>
        </p:nvSpPr>
        <p:spPr>
          <a:xfrm>
            <a:off x="914400" y="3017520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每日正确率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914400" y="3218688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学习曲线趋势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777240" y="3520440"/>
            <a:ext cx="3474720" cy="457200"/>
          </a:xfrm>
          <a:prstGeom prst="rect">
            <a:avLst/>
          </a:prstGeom>
          <a:solidFill>
            <a:srgbClr val="ECFEFF"/>
          </a:solidFill>
          <a:ln/>
        </p:spPr>
      </p:sp>
      <p:sp>
        <p:nvSpPr>
          <p:cNvPr id="22" name="Shape 20"/>
          <p:cNvSpPr/>
          <p:nvPr/>
        </p:nvSpPr>
        <p:spPr>
          <a:xfrm>
            <a:off x="777240" y="3520440"/>
            <a:ext cx="54864" cy="4572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3" name="Text 21"/>
          <p:cNvSpPr/>
          <p:nvPr/>
        </p:nvSpPr>
        <p:spPr>
          <a:xfrm>
            <a:off x="914400" y="3566160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每日做题量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914400" y="3767328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练习强度热度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777240" y="4069080"/>
            <a:ext cx="3474720" cy="457200"/>
          </a:xfrm>
          <a:prstGeom prst="rect">
            <a:avLst/>
          </a:prstGeom>
          <a:solidFill>
            <a:srgbClr val="ECFEFF"/>
          </a:solidFill>
          <a:ln/>
        </p:spPr>
      </p:sp>
      <p:sp>
        <p:nvSpPr>
          <p:cNvPr id="26" name="Shape 24"/>
          <p:cNvSpPr/>
          <p:nvPr/>
        </p:nvSpPr>
        <p:spPr>
          <a:xfrm>
            <a:off x="777240" y="4069080"/>
            <a:ext cx="54864" cy="4572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7" name="Text 25"/>
          <p:cNvSpPr/>
          <p:nvPr/>
        </p:nvSpPr>
        <p:spPr>
          <a:xfrm>
            <a:off x="914400" y="4114800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答题历史表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914400" y="4315968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每题第一次结果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663440" y="1280160"/>
            <a:ext cx="3931920" cy="36576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663440" y="1280160"/>
            <a:ext cx="3931920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1" name="Text 29"/>
          <p:cNvSpPr/>
          <p:nvPr/>
        </p:nvSpPr>
        <p:spPr>
          <a:xfrm>
            <a:off x="4892040" y="14173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Analyzer Agent 输出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4892040" y="1965960"/>
            <a:ext cx="164592" cy="164592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33" name="Text 31"/>
          <p:cNvSpPr/>
          <p:nvPr/>
        </p:nvSpPr>
        <p:spPr>
          <a:xfrm>
            <a:off x="5120640" y="19202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总评：用 1 句话归纳学习状态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892040" y="2377440"/>
            <a:ext cx="164592" cy="164592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35" name="Text 33"/>
          <p:cNvSpPr/>
          <p:nvPr/>
        </p:nvSpPr>
        <p:spPr>
          <a:xfrm>
            <a:off x="5120640" y="233172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强项：≤3 个掌握良好的维度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892040" y="2788920"/>
            <a:ext cx="164592" cy="164592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37" name="Text 35"/>
          <p:cNvSpPr/>
          <p:nvPr/>
        </p:nvSpPr>
        <p:spPr>
          <a:xfrm>
            <a:off x="5120640" y="27432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弱项：≤3 个需要加强的维度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892040" y="3200400"/>
            <a:ext cx="164592" cy="164592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39" name="Text 37"/>
          <p:cNvSpPr/>
          <p:nvPr/>
        </p:nvSpPr>
        <p:spPr>
          <a:xfrm>
            <a:off x="5120640" y="31546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维度评分：6 项 0-1 浮点数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892040" y="3611880"/>
            <a:ext cx="164592" cy="164592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41" name="Text 39"/>
          <p:cNvSpPr/>
          <p:nvPr/>
        </p:nvSpPr>
        <p:spPr>
          <a:xfrm>
            <a:off x="5120640" y="356616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改进建议：≤3 条具体可执行操作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4892040" y="4023360"/>
            <a:ext cx="164592" cy="164592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43" name="Text 41"/>
          <p:cNvSpPr/>
          <p:nvPr/>
        </p:nvSpPr>
        <p:spPr>
          <a:xfrm>
            <a:off x="5120640" y="39776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推荐难度：下次练习的难度建议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4892040" y="45262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一键导出为 Markdown 报告，便于存档和分享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8229600" y="48463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 / 14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01168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 err="1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总结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感谢倾听 · 期待您的建议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024128"/>
            <a:ext cx="914400" cy="0"/>
          </a:xfrm>
          <a:prstGeom prst="line">
            <a:avLst/>
          </a:prstGeom>
          <a:noFill/>
          <a:ln w="38100">
            <a:solidFill>
              <a:srgbClr val="38BD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0" y="-914400"/>
            <a:ext cx="4572000" cy="4572000"/>
          </a:xfrm>
          <a:prstGeom prst="ellipse">
            <a:avLst/>
          </a:prstGeom>
          <a:solidFill>
            <a:srgbClr val="38BDF8">
              <a:alpha val="8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1297670" y="1289304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 err="1">
                <a:solidFill>
                  <a:srgbClr val="0596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项目成果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480550" y="1700784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596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&gt;  </a:t>
            </a: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完整 SQL 学习闭环（6 大功能 Tab）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480550" y="2029968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596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&gt;  </a:t>
            </a: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三层判题，~50ms 默认响应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480550" y="2359152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596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&gt;  </a:t>
            </a: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考试模式 + A/B/C/D 五档评级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480550" y="2688336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596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&gt;  </a:t>
            </a:r>
            <a:r>
              <a:rPr lang="en-US" sz="1200" dirty="0" err="1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结构化错题解析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480550" y="301752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596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&gt;  </a:t>
            </a: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 内置 + 自定义 + 一句话生成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480550" y="3346704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596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&gt;  </a:t>
            </a: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可视化分析 + AI 个性化建议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480550" y="3675888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596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&gt;  </a:t>
            </a: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已部署到云端，在线可访问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212080" y="3666744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0" y="4617720"/>
            <a:ext cx="9144000" cy="525780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24" name="Text 22"/>
          <p:cNvSpPr/>
          <p:nvPr/>
        </p:nvSpPr>
        <p:spPr>
          <a:xfrm>
            <a:off x="548640" y="470916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D4E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GitHub: github.com/luoxin20060823/sqlcoach   |   在线试用：sqlcoach-hkj6rtcdfbgkxebdzeuegd.streamlit.app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229600" y="48463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 / 14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790</Words>
  <Application>Microsoft Office PowerPoint</Application>
  <PresentationFormat>全屏显示(16:9)</PresentationFormat>
  <Paragraphs>275</Paragraphs>
  <Slides>12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17" baseType="lpstr">
      <vt:lpstr>Microsoft YaHei</vt:lpstr>
      <vt:lpstr>Arial</vt:lpstr>
      <vt:lpstr>Arial Black</vt:lpstr>
      <vt:lpstr>Consolas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SQL 随身教练 项目汇报</dc:title>
  <dc:subject>PptxGenJS Presentation</dc:subject>
  <dc:creator>SQL 随身教练</dc:creator>
  <cp:lastModifiedBy>鑫 罗</cp:lastModifiedBy>
  <cp:revision>2</cp:revision>
  <dcterms:created xsi:type="dcterms:W3CDTF">2026-05-17T11:08:03Z</dcterms:created>
  <dcterms:modified xsi:type="dcterms:W3CDTF">2026-05-17T11:13:56Z</dcterms:modified>
</cp:coreProperties>
</file>