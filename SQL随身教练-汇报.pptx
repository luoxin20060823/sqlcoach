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0" y="3840480"/>
            <a:ext cx="2286000" cy="2286000"/>
          </a:xfrm>
          <a:prstGeom prst="ellipse">
            <a:avLst/>
          </a:prstGeom>
          <a:solidFill>
            <a:srgbClr val="34D399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随身教练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 Agent 的 SQL 辅助学习系统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24612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数据库课程项目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324612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· 性能优化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3246120"/>
            <a:ext cx="22860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3246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在线可访问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17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+ Streamlit + SQLite + DeepSeek API   |   GitHub: luoxin20060823/sqlcoach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项目背景与目标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为什么要做这个系统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931920" cy="17373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学习痛点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教科书例子单一，数据库切换成本高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在线判题平台需准备好 SQL 题库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做错的题缺乏针对性深入解析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缺少限时考试场景训练实战能力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3931920" cy="173736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我们的方案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92040" y="178308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Agent 实时生成 schema、题目、解析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 + 结构化错题解析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/ 考试 / 复习 多场景覆盖
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学习数据可视化 + 智能建议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设计目标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749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069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建库→出题→答题→判题→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解析→分析→推荐难度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65760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97480" y="3749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97480" y="4069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驱动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97480" y="43891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Schema、题目、解析、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学习分析全部 LLM 生成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0" y="365760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3749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9160" y="4069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高性能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09160" y="43891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并发、缓存、预取，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 操作秒级响应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0" y="3657600"/>
            <a:ext cx="1874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20840" y="37490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20840" y="4069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易上手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20840" y="438912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直接打开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无需安装、无需注册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系统架构与技术栈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层架构 · 单一外部依赖（LLM API）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280160"/>
            <a:ext cx="7498080" cy="548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280160"/>
            <a:ext cx="73152" cy="54864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316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18C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前端展示层 — Streamlit Web UI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5544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大功能 Tab · 自定义 CSS 主题 · streamlit-ace SQL 编辑器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1965960"/>
            <a:ext cx="7498080" cy="548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965960"/>
            <a:ext cx="73152" cy="5486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0025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引擎层 — Python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2402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SchemaGen · QuestionGen · JudgeEngine · Tutor · Analyzer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2651760"/>
            <a:ext cx="7498080" cy="548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2651760"/>
            <a:ext cx="73152" cy="5486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2688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调度层 — LLMClient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29260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兼容协议 · 并发批量 · JSON Mode · 失败回退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37560"/>
            <a:ext cx="7498080" cy="548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337560"/>
            <a:ext cx="73152" cy="54864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3374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 — SQLite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36118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 / 答题历史 / Schema 缓存 / 考试记录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4023360"/>
            <a:ext cx="7498080" cy="548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4023360"/>
            <a:ext cx="73152" cy="54864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4059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72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外部模型 — DeepSeek API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97280" y="429768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deepseek-chat（V3）— 单模型驱动全部 Agent 调用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389120" y="184708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V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253288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V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389120" y="321868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V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89120" y="3904488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V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六大功能总览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覆盖完整的 SQL 学习闭环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5780" y="13716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25780" y="1371600"/>
            <a:ext cx="260604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708660" y="1600200"/>
            <a:ext cx="365760" cy="3657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/>
          <p:nvPr/>
        </p:nvSpPr>
        <p:spPr>
          <a:xfrm>
            <a:off x="7086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6586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4380" y="21488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出题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判题与解析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68980" y="13716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68980" y="1371600"/>
            <a:ext cx="260604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451860" y="1600200"/>
            <a:ext cx="365760" cy="365760"/>
          </a:xfrm>
          <a:prstGeom prst="ellipse">
            <a:avLst/>
          </a:prstGeom>
          <a:solidFill>
            <a:srgbClr val="F5F3FF"/>
          </a:solidFill>
          <a:ln/>
        </p:spPr>
      </p:sp>
      <p:sp>
        <p:nvSpPr>
          <p:cNvPr id="15" name="Text 13"/>
          <p:cNvSpPr/>
          <p:nvPr/>
        </p:nvSpPr>
        <p:spPr>
          <a:xfrm>
            <a:off x="34518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90906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考试模式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97580" y="21488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限时多题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按难度计分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12180" y="137160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12180" y="1371600"/>
            <a:ext cx="260604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95060" y="1600200"/>
            <a:ext cx="365760" cy="365760"/>
          </a:xfrm>
          <a:prstGeom prst="ellipse">
            <a:avLst/>
          </a:prstGeom>
          <a:solidFill>
            <a:srgbClr val="ECFEFF"/>
          </a:solidFill>
          <a:ln/>
        </p:spPr>
      </p:sp>
      <p:sp>
        <p:nvSpPr>
          <p:cNvPr id="21" name="Text 19"/>
          <p:cNvSpPr/>
          <p:nvPr/>
        </p:nvSpPr>
        <p:spPr>
          <a:xfrm>
            <a:off x="619506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5226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分析报告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40780" y="21488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雷达图 / 趋势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建议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25780" y="324612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5780" y="3246120"/>
            <a:ext cx="26060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6" name="Shape 24"/>
          <p:cNvSpPr/>
          <p:nvPr/>
        </p:nvSpPr>
        <p:spPr>
          <a:xfrm>
            <a:off x="708660" y="3474720"/>
            <a:ext cx="365760" cy="365760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65860" y="35204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数据浏览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4380" y="4023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表数据预览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68980" y="324612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68980" y="3246120"/>
            <a:ext cx="26060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Shape 30"/>
          <p:cNvSpPr/>
          <p:nvPr/>
        </p:nvSpPr>
        <p:spPr>
          <a:xfrm>
            <a:off x="3451860" y="3474720"/>
            <a:ext cx="365760" cy="365760"/>
          </a:xfrm>
          <a:prstGeom prst="ellipse">
            <a:avLst/>
          </a:prstGeom>
          <a:solidFill>
            <a:srgbClr val="FFFBEB"/>
          </a:solidFill>
          <a:ln/>
        </p:spPr>
      </p:sp>
      <p:sp>
        <p:nvSpPr>
          <p:cNvPr id="33" name="Text 31"/>
          <p:cNvSpPr/>
          <p:nvPr/>
        </p:nvSpPr>
        <p:spPr>
          <a:xfrm>
            <a:off x="34518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909060" y="35204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497580" y="4023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错题集中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反复练习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12180" y="324612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12180" y="3246120"/>
            <a:ext cx="260604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Shape 36"/>
          <p:cNvSpPr/>
          <p:nvPr/>
        </p:nvSpPr>
        <p:spPr>
          <a:xfrm>
            <a:off x="6195060" y="3474720"/>
            <a:ext cx="365760" cy="365760"/>
          </a:xfrm>
          <a:prstGeom prst="ellipse">
            <a:avLst/>
          </a:prstGeom>
          <a:solidFill>
            <a:srgbClr val="FEF2F2"/>
          </a:solidFill>
          <a:ln/>
        </p:spPr>
      </p:sp>
      <p:sp>
        <p:nvSpPr>
          <p:cNvPr id="39" name="Text 37"/>
          <p:cNvSpPr/>
          <p:nvPr/>
        </p:nvSpPr>
        <p:spPr>
          <a:xfrm>
            <a:off x="619506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52260" y="35204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自由答疑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240780" y="402336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多轮对话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助教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学习闭环：建库 → 出题 → 答题 → 判题 → 解析 → 分析 → 推荐难度 → 出题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1 · 多元化建库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三种数据库加载方式，零成本到完全定制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80160"/>
            <a:ext cx="2697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280160"/>
            <a:ext cx="269748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463040"/>
            <a:ext cx="685800" cy="6858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个内置预置库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" y="26700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瞬时加载 · 0 等待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0175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学生管理 · 电商订单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4360" y="33375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图书管理 · 企业人事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436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医院挂号 · 银行交易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" y="39776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餐厅外卖 · 博客社交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91840" y="1280160"/>
            <a:ext cx="2697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91840" y="1280160"/>
            <a:ext cx="269748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Shape 16"/>
          <p:cNvSpPr/>
          <p:nvPr/>
        </p:nvSpPr>
        <p:spPr>
          <a:xfrm>
            <a:off x="4297680" y="1463040"/>
            <a:ext cx="685800" cy="685800"/>
          </a:xfrm>
          <a:prstGeom prst="ellipse">
            <a:avLst/>
          </a:prstGeom>
          <a:solidFill>
            <a:srgbClr val="F0FDF4"/>
          </a:solidFill>
          <a:ln/>
        </p:spPr>
      </p:sp>
      <p:sp>
        <p:nvSpPr>
          <p:cNvPr id="19" name="Text 17"/>
          <p:cNvSpPr/>
          <p:nvPr/>
        </p:nvSpPr>
        <p:spPr>
          <a:xfrm>
            <a:off x="42976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429000" y="22860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SQL 上传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29000" y="26700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完全自主 · 0 LLM 调用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20440" y="30175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粘贴 CREATE TABLE +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20440" y="33375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INTO 即可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2044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用真实业务数据训练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20440" y="39776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校验后自动加载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1280160"/>
            <a:ext cx="269748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1280160"/>
            <a:ext cx="269748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6"/>
          <p:cNvSpPr/>
          <p:nvPr/>
        </p:nvSpPr>
        <p:spPr>
          <a:xfrm>
            <a:off x="7223760" y="1463040"/>
            <a:ext cx="685800" cy="685800"/>
          </a:xfrm>
          <a:prstGeom prst="ellipse">
            <a:avLst/>
          </a:prstGeom>
          <a:solidFill>
            <a:srgbClr val="F5F3FF"/>
          </a:solidFill>
          <a:ln/>
        </p:spPr>
      </p:sp>
      <p:sp>
        <p:nvSpPr>
          <p:cNvPr id="29" name="Text 27"/>
          <p:cNvSpPr/>
          <p:nvPr/>
        </p:nvSpPr>
        <p:spPr>
          <a:xfrm>
            <a:off x="722376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355080" y="22860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 LLM 生成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55080" y="26700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 · 即说即生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46520" y="30175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「健身房系统，需要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46520" y="33375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会员、教练、课程...」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46520" y="36576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AI 自动设计表结构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46520" y="39776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写入示例数据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4709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缓存机制：自定义 / LLM 生成的 schema 都会进入 SQLite 缓存，下次秒加载，永不重复调用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2 · 多样化题目生成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种类型 × 3 个难度 · 题库复用 · 并发生成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5029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71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题目类型（部分）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8308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83080"/>
            <a:ext cx="54864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288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基础查询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2148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0" y="178308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6000" y="1783080"/>
            <a:ext cx="54864" cy="731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2395728" y="18288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排序分页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395728" y="2148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840480" y="178308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178308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3950208" y="18288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聚合统计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50208" y="21488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31520" y="265176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265176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269748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内连接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1248" y="30175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0" y="265176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86000" y="265176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2395728" y="269748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外连接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395728" y="30175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840480" y="265176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3840480" y="265176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3950208" y="269748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标量子查询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950208" y="30175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Subquery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1520" y="352044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352044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35661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EXISTS 子查询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" y="38862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0" y="352044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7" name="Shape 35"/>
          <p:cNvSpPr/>
          <p:nvPr/>
        </p:nvSpPr>
        <p:spPr>
          <a:xfrm>
            <a:off x="2286000" y="3520440"/>
            <a:ext cx="54864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8" name="Text 36"/>
          <p:cNvSpPr/>
          <p:nvPr/>
        </p:nvSpPr>
        <p:spPr>
          <a:xfrm>
            <a:off x="2395728" y="35661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窗口函数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395728" y="38862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840480" y="3520440"/>
            <a:ext cx="1463040" cy="73152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0480" y="3520440"/>
            <a:ext cx="54864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2" name="Text 40"/>
          <p:cNvSpPr/>
          <p:nvPr/>
        </p:nvSpPr>
        <p:spPr>
          <a:xfrm>
            <a:off x="3950208" y="35661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CTE 表达式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950208" y="38862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31520" y="443484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...等 15 种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5216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生成特性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852160" y="1828800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47" name="Text 45"/>
          <p:cNvSpPr/>
          <p:nvPr/>
        </p:nvSpPr>
        <p:spPr>
          <a:xfrm>
            <a:off x="585216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263640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题库复用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263640" y="20756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 schema/难度/类型已生成过的题目，优先抽取，节省 LLM 调用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852160" y="2587752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51" name="Text 49"/>
          <p:cNvSpPr/>
          <p:nvPr/>
        </p:nvSpPr>
        <p:spPr>
          <a:xfrm>
            <a:off x="5852160" y="2587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263640" y="25420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并发生成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6263640" y="2834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ThreadPoolExecutor 4 路并发，3 题串行 18s → 并发 6s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852160" y="3346704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55" name="Text 53"/>
          <p:cNvSpPr/>
          <p:nvPr/>
        </p:nvSpPr>
        <p:spPr>
          <a:xfrm>
            <a:off x="5852160" y="3346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263640" y="33009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Mode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6263640" y="359359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强制 LLM 返回结构化 JSON，避免格式解析失败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852160" y="4105656"/>
            <a:ext cx="274320" cy="274320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59" name="Text 57"/>
          <p:cNvSpPr/>
          <p:nvPr/>
        </p:nvSpPr>
        <p:spPr>
          <a:xfrm>
            <a:off x="5852160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263640" y="4059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执行验证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6263640" y="4352544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生成后立刻在内存数据库验证 SQL 可执行，过滤脏题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3 · 三层判题引擎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默认快速路径 ~50ms · 可选 LLM 语义复核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25880"/>
            <a:ext cx="80467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73152" cy="777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1490472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08760" y="1399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语法检查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08760" y="1691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EXPLAIN 解析 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语法错误零成本拦截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040880" y="1554480"/>
            <a:ext cx="1371600" cy="320040"/>
          </a:xfrm>
          <a:prstGeom prst="rect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1554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无 LLM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240280"/>
            <a:ext cx="80467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40280"/>
            <a:ext cx="73152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2404872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08760" y="2313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执行结果对比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08760" y="2606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:memory: 数据库执行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排序后比较，忽略字段顺序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040880" y="2468880"/>
            <a:ext cx="1371600" cy="320040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无 LLM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154680"/>
            <a:ext cx="804672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154680"/>
            <a:ext cx="73152" cy="77724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" y="3319272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508760" y="3227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语义复核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08760" y="3520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结果一致时审查 SQL 逻辑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 WHERE 1=1 等碰巧情况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040880" y="3383280"/>
            <a:ext cx="1371600" cy="320040"/>
          </a:xfrm>
          <a:prstGeom prst="rect">
            <a:avLst/>
          </a:prstGeom>
          <a:solidFill>
            <a:srgbClr val="FBBF24">
              <a:alpha val="2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3383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可选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160520"/>
            <a:ext cx="804672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224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快速路径性能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45262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LLM 方案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286000" y="4562856"/>
            <a:ext cx="6400800" cy="146304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0" y="45262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~10s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7240" y="47731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本系统快速路径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0" y="4809744"/>
            <a:ext cx="548640" cy="1463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477316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~50ms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4 · 考试模式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限时多题 · 难度均分 · 100 分制 · 自动交卷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280160"/>
            <a:ext cx="182880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配置考试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011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题数 / 时长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领域选择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33172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651760" y="1280160"/>
            <a:ext cx="182880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3716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并发生成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011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按难度均分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一次拉取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800600" y="1280160"/>
            <a:ext cx="182880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77840" y="137160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557784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限时作答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011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倒计时实时显示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题间自由切换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&gt;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49440" y="1280160"/>
            <a:ext cx="182880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26680" y="137160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77266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944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评级复盘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40880" y="2011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档评级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每题详细解析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核心规则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20040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1272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题数 3~30、时长 1~120 分钟，由用户自定义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341985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难度按 easy/medium/hard 平均分配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3785616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37124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分数按难度权重 1/2/3 加权，总分恒为 100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078224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400507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倒计时归零自动交卷，30s 内倒计时变红警示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评级体系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56048" y="3246120"/>
            <a:ext cx="731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956048" y="3246120"/>
            <a:ext cx="731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1" name="Text 39"/>
          <p:cNvSpPr/>
          <p:nvPr/>
        </p:nvSpPr>
        <p:spPr>
          <a:xfrm>
            <a:off x="4956048" y="338328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A+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4956048" y="4069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90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724144" y="3246120"/>
            <a:ext cx="731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724144" y="3246120"/>
            <a:ext cx="7315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5" name="Text 43"/>
          <p:cNvSpPr/>
          <p:nvPr/>
        </p:nvSpPr>
        <p:spPr>
          <a:xfrm>
            <a:off x="5724144" y="338328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5724144" y="4069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80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492240" y="3246120"/>
            <a:ext cx="731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92240" y="3246120"/>
            <a:ext cx="731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/>
          <p:nvPr/>
        </p:nvSpPr>
        <p:spPr>
          <a:xfrm>
            <a:off x="6492240" y="338328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6492240" y="4069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70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260336" y="3246120"/>
            <a:ext cx="731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260336" y="3246120"/>
            <a:ext cx="7315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Text 51"/>
          <p:cNvSpPr/>
          <p:nvPr/>
        </p:nvSpPr>
        <p:spPr>
          <a:xfrm>
            <a:off x="7260336" y="338328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7260336" y="4069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60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028432" y="3246120"/>
            <a:ext cx="7315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028432" y="3246120"/>
            <a:ext cx="7315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7" name="Text 55"/>
          <p:cNvSpPr/>
          <p:nvPr/>
        </p:nvSpPr>
        <p:spPr>
          <a:xfrm>
            <a:off x="8028432" y="338328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2800" dirty="0"/>
          </a:p>
        </p:txBody>
      </p:sp>
      <p:sp>
        <p:nvSpPr>
          <p:cNvPr id="58" name="Text 56"/>
          <p:cNvSpPr/>
          <p:nvPr/>
        </p:nvSpPr>
        <p:spPr>
          <a:xfrm>
            <a:off x="8028432" y="4069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60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考试记录单独存表，不影响日常练习统计 · 题间自由切换 · 单题解析按需生成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5 · 错题复习 + 自由答疑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巩固薄弱点 · 实时答疑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39319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17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201168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9385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自动收集 wrong / flawed / 看答案 三类题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42316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5000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每题保留最近一次尝试结果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7614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点击表格行直接选题（streamlit 1.35+ row select）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24612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17296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可在原 schema 上重新作答 + 重新判定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65760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35844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可切换查看标准答案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069080"/>
            <a:ext cx="164592" cy="16459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39959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首次答错则统计中永久记错（防刷分）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128016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1280160"/>
            <a:ext cx="39319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417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自由答疑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937760" y="201168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19385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chat 界面，多轮对话历史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37760" y="242316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235000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自动注入当前数据库 schema 上下文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37760" y="283464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5166360" y="27614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可问语法、举例、对比写法、性能等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324612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5166360" y="317296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也支持通用 SQL 概念性问题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937760" y="365760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5166360" y="358444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对话保存在 session，刷新前一直可见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37760" y="4069080"/>
            <a:ext cx="164592" cy="16459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5166360" y="399592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一键清空对话，开启新话题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6 · 结构化详细解析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Tutor Agent 按 4 个固定章节输出 · 250~450 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8404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0876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题目解读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1-2 句话翻译题目真实需求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明确取哪些表、返回什么字段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38404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55448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3212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解题思路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32120" y="18745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分步说明思考过程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每步在做什么、为什么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651760"/>
            <a:ext cx="38404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926080"/>
            <a:ext cx="640080" cy="6400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答案点评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32461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答对：肯定 + 1-2 处优化建议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答错：明确指出错在哪一步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2651760"/>
            <a:ext cx="384048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926080"/>
            <a:ext cx="640080" cy="64008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926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3212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关键知识点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32120" y="32461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条相关 SQL 语法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常见易错点提醒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8046720" cy="777240"/>
          </a:xfrm>
          <a:prstGeom prst="rect">
            <a:avLst/>
          </a:prstGeom>
          <a:solidFill>
            <a:srgbClr val="EEF2FF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1605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46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不仅说『错在哪』，还说『怎么想』、『以后怎么避免』 — 让每一道错题都成为学习的契机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亮点 7 · 学习分析报告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可视化进度 · AI 个性化建议 · Markdown 导出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8016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39319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数据可视化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3474720" cy="4572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187452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20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能力雷达图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21214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个知识维度全景视图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2423160"/>
            <a:ext cx="3474720" cy="4572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242316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4688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维度条形图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≥80% 绿、50-80% 橙、&lt;50% 红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2971800"/>
            <a:ext cx="3474720" cy="4572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297180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每日正确率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32186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学习曲线趋势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3520440"/>
            <a:ext cx="3474720" cy="4572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352044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每日做题量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4400" y="376732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练习强度热度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069080"/>
            <a:ext cx="3474720" cy="4572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4069080"/>
            <a:ext cx="54864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1148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答题历史表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4400" y="431596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每题第一次结果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128016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280160"/>
            <a:ext cx="3931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489204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Analyzer Agent 输出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92040" y="196596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5120640" y="1920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总评：用 1 句话归纳学习状态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92040" y="237744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0" y="2331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强项：≤3 个掌握良好的维度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92040" y="278892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0" y="2743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弱项：≤3 个需要加强的维度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92040" y="320040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0" y="3154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维度评分：6 项 0-1 浮点数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361188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5120640" y="3566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改进建议：≤3 条具体可执行操作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92040" y="4023360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43" name="Text 41"/>
          <p:cNvSpPr/>
          <p:nvPr/>
        </p:nvSpPr>
        <p:spPr>
          <a:xfrm>
            <a:off x="5120640" y="3977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推荐难度：下次练习的难度建议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92040" y="4526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一键导出为 Markdown 报告，便于存档和分享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性能优化对比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工程化优化让 90% 操作秒级响应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5F9"/>
                </a:solidFill>
              </a:rPr>
              <a:t>场景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5F9"/>
                </a:solidFill>
              </a:rPr>
              <a:t>原始版本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7760" y="1280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5F9"/>
                </a:solidFill>
              </a:rPr>
              <a:t>优化后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0" y="1280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F5F9"/>
                </a:solidFill>
              </a:rPr>
              <a:t>提升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8229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生成内置数据库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83464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 LLM ~30s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预置加载 &lt; 1ms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223760" y="16916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30000x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202082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重复领域生成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834640" y="20208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重新调 LLM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0" y="20208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缓存命中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23760" y="202082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瞬时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350008"/>
            <a:ext cx="8229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3500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执行结果一致的判题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34640" y="23500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 LLM ~10s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0" y="23500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本地比对 ~50ms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223760" y="23500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26791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题批量生成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834640" y="2679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 ~18s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0" y="267919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 ~6s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223760" y="26791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3x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008376"/>
            <a:ext cx="8229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083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max_tokens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834640" y="30083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4096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0" y="30083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1024 / 768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223760" y="30083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 4x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3337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解析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34640" y="33375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手撕 markdown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0" y="33375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json_object 模式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223760" y="33375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666744"/>
            <a:ext cx="8229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36667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题库复用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834640" y="36667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0" y="366674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同条件抽老题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223760" y="36667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 LLM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39959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预取下一题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834640" y="3995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029200" y="39959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做题时后台生成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223760" y="399592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无感切题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整体体验：从『点一次等十几秒』变成『点一次秒响应』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关键指标 &amp; 工程质量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+ 测试 = 可信度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828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280160"/>
            <a:ext cx="18288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 Tab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51760" y="1280160"/>
            <a:ext cx="1828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128016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417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265176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内置数据库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517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等待加载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280160"/>
            <a:ext cx="1828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280160"/>
            <a:ext cx="18288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1417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66344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题目类型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3 难度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1280160"/>
            <a:ext cx="1828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128016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1417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6675120" y="2057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通过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926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test_judge.py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24028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788920" y="3337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三层判题、语法、执行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634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test_store.py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5508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03720" y="3337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建表、CRUD、统计去重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test_llm.py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240280" y="3749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788920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客户端默认值、Mock 响应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6344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test_prompts.py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55080" y="3749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903720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Prompt 模板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test_smoke_optimized.py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240280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788920" y="4160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预置 schema、缓存路径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663440" y="4160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test_e2e_offline.py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355080" y="4160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03720" y="41605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+ 第一次错锁定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D4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已部署到 Streamlit Cloud · 在线访问 · 自动从 GitHub main 分支同步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感谢倾听 · 期待您的建议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914400" cy="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-914400"/>
            <a:ext cx="4572000" cy="4572000"/>
          </a:xfrm>
          <a:prstGeom prst="ellipse">
            <a:avLst/>
          </a:prstGeom>
          <a:solidFill>
            <a:srgbClr val="38BDF8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SQL 学习闭环（6 大功能 Tab）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020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三层判题，~50ms 默认响应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3500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考试模式 + A/B/C/D 五档评级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6791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结构化错题解析（4 章节）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008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内置 + 自定义 + 一句话生成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337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可视化分析 + AI 个性化建议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6667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已部署到云端，在线可访问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扩展方向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12080" y="16916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自适应难度（基于能力评分）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2020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知识图谱可视化（先修关系）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3500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题目质量回流（用户评分 → 重生成）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26791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多人对战 / 排行榜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30083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课程模式：按章节解锁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12080" y="333756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执行计划可视化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366674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多模型对比（DeepSeek vs GPT）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709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GitHub: github.com/luoxin20060823/sqlcoach   |   在线试用：sqlcoach-hkj6rtcdfbgkxebdzeuegd.streamlit.app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随身教练 项目汇报</dc:title>
  <dc:subject>PptxGenJS Presentation</dc:subject>
  <dc:creator>SQL 随身教练</dc:creator>
  <cp:lastModifiedBy>SQL 随身教练</cp:lastModifiedBy>
  <cp:revision>1</cp:revision>
  <dcterms:created xsi:type="dcterms:W3CDTF">2026-05-17T10:54:08Z</dcterms:created>
  <dcterms:modified xsi:type="dcterms:W3CDTF">2026-05-17T10:54:08Z</dcterms:modified>
</cp:coreProperties>
</file>